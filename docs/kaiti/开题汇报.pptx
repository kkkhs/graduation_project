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sldIdLst>
    <p:sldId id="266" r:id="rId4"/>
    <p:sldId id="257" r:id="rId5"/>
    <p:sldId id="258" r:id="rId6"/>
    <p:sldId id="267" r:id="rId7"/>
    <p:sldId id="259" r:id="rId8"/>
    <p:sldId id="269" r:id="rId9"/>
    <p:sldId id="271" r:id="rId10"/>
    <p:sldId id="276" r:id="rId11"/>
    <p:sldId id="277" r:id="rId12"/>
    <p:sldId id="278" r:id="rId13"/>
    <p:sldId id="279" r:id="rId14"/>
    <p:sldId id="275" r:id="rId15"/>
    <p:sldId id="273" r:id="rId16"/>
    <p:sldId id="274" r:id="rId17"/>
    <p:sldId id="270" r:id="rId18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6800" rIns="900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6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 hasCustomPrompt="1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 hasCustomPrompt="1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8050" lvl="1" indent="-4362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4925" lvl="2" indent="-39497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545" lvl="3" indent="-38735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4" indent="-3981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5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6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2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6800" rIns="900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3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4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 hasCustomPrompt="1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8050" lvl="1" indent="-4362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4925" lvl="2" indent="-39497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545" lvl="3" indent="-38735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4" indent="-3981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5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6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2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0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6800" rIns="900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1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2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8050" lvl="1" indent="-4362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4925" lvl="2" indent="-39497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545" lvl="3" indent="-38735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4" indent="-3981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5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6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3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6800" rIns="900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6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 hasCustomPrompt="1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 hasCustomPrompt="1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8050" lvl="1" indent="-4362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4925" lvl="2" indent="-39497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545" lvl="3" indent="-38735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4" indent="-3981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5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6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2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6800" rIns="900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3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4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 hasCustomPrompt="1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8050" lvl="1" indent="-4362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4925" lvl="2" indent="-39497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545" lvl="3" indent="-38735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4" indent="-3981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5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6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2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0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6800" rIns="900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1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2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8050" lvl="1" indent="-4362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4925" lvl="2" indent="-39497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545" lvl="3" indent="-38735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4" indent="-398145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5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595" lvl="6" indent="-39814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panose="05000000000000000000" pitchFamily="2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3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233363"/>
            <a:ext cx="8001000" cy="7477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341438"/>
            <a:ext cx="8207375" cy="4770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9280" y="1699920"/>
            <a:ext cx="7929720" cy="115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题目：</a:t>
            </a:r>
            <a:r>
              <a:rPr lang="zh-CN" altLang="en-US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遥感场景下的微小船舶检测系统设计与实现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Verdana" panose="020B0804030504040204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 panose="020B0804030504040204"/>
            </a:endParaRPr>
          </a:p>
        </p:txBody>
      </p:sp>
      <p:sp>
        <p:nvSpPr>
          <p:cNvPr id="27" name="Text Box 6"/>
          <p:cNvSpPr/>
          <p:nvPr/>
        </p:nvSpPr>
        <p:spPr>
          <a:xfrm>
            <a:off x="1835280" y="0"/>
            <a:ext cx="7308720" cy="128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p>
            <a:pPr marL="812800" indent="-812800" algn="ctr">
              <a:lnSpc>
                <a:spcPct val="150000"/>
              </a:lnSpc>
              <a:spcBef>
                <a:spcPts val="3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8" name="Text Box 7"/>
          <p:cNvSpPr/>
          <p:nvPr/>
        </p:nvSpPr>
        <p:spPr>
          <a:xfrm>
            <a:off x="611280" y="189000"/>
            <a:ext cx="7848360" cy="83121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p>
            <a:pPr marL="812800" indent="-812800" algn="ctr">
              <a:lnSpc>
                <a:spcPct val="150000"/>
              </a:lnSpc>
              <a:spcBef>
                <a:spcPts val="2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CC3300"/>
                </a:solidFill>
                <a:effectLst/>
                <a:uFillTx/>
                <a:latin typeface="Times New Roman" panose="02020503050405090304"/>
              </a:rPr>
              <a:t>2022</a:t>
            </a:r>
            <a:r>
              <a:rPr lang="zh-CN" sz="3200" b="1" u="none" strike="noStrike">
                <a:solidFill>
                  <a:srgbClr val="CC3300"/>
                </a:solidFill>
                <a:effectLst/>
                <a:uFillTx/>
                <a:latin typeface="Times New Roman" panose="02020503050405090304"/>
                <a:ea typeface="华文新魏"/>
              </a:rPr>
              <a:t>级本科毕业设计开题汇报</a:t>
            </a:r>
            <a:endParaRPr lang="en-US" sz="32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9" name="Rectangle 2"/>
          <p:cNvSpPr/>
          <p:nvPr/>
        </p:nvSpPr>
        <p:spPr>
          <a:xfrm>
            <a:off x="2124000" y="3500280"/>
            <a:ext cx="4896000" cy="2521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b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姓    名：邝黄硕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学    号：</a:t>
            </a:r>
            <a:r>
              <a:rPr lang="en-US" alt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2022217586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专业班级：物联网</a:t>
            </a:r>
            <a:r>
              <a:rPr lang="en-US" alt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22-2</a:t>
            </a:r>
            <a:r>
              <a:rPr lang="zh-CN" alt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班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指导教师：惠天瑞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汇报日期：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2026-3-8</a:t>
            </a:r>
            <a:endParaRPr lang="en-US" sz="2800" b="0" u="none" strike="noStrike">
              <a:solidFill>
                <a:srgbClr val="CC33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sz="3200">
                <a:solidFill>
                  <a:srgbClr val="000000"/>
                </a:solidFill>
                <a:effectLst/>
                <a:uFillTx/>
                <a:latin typeface="Verdana" panose="020B0804030504040204"/>
                <a:sym typeface="+mn-ea"/>
              </a:rPr>
              <a:t>汇报提纲</a:t>
            </a:r>
            <a:endParaRPr sz="3200"/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69900" indent="-469900">
              <a:lnSpc>
                <a:spcPct val="170000"/>
              </a:lnSpc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课题意义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70000"/>
              </a:lnSpc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课题综述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70000"/>
              </a:lnSpc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课题难点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70000"/>
              </a:lnSpc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课题方案和需要条件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70000"/>
              </a:lnSpc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计划进度与预期成果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70000"/>
              </a:lnSpc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翻译工作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sz="3200"/>
              <a:t>课题意义</a:t>
            </a:r>
            <a:endParaRPr lang="zh-CN" sz="3200"/>
          </a:p>
        </p:txBody>
      </p:sp>
      <p:sp>
        <p:nvSpPr>
          <p:cNvPr id="33" name="文本框 32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遥感微小船舶检测（</a:t>
            </a:r>
            <a:r>
              <a:rPr lang="en-US" altLang="zh-CN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Remote Sensing Tiny Ship Detection</a:t>
            </a: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）是遥感智能解译的基础任务</a:t>
            </a:r>
            <a:r>
              <a:rPr lang="en-US" altLang="zh-CN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。</a:t>
            </a: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用于海上监管、港口监测、海事执法、应急搜救、海上态势感知等场景。</a:t>
            </a:r>
            <a:endParaRPr lang="en-US" altLang="zh-CN" sz="2000" b="0" u="none" strike="noStrike">
              <a:solidFill>
                <a:srgbClr val="000000"/>
              </a:solidFill>
              <a:effectLst/>
              <a:uFillTx/>
              <a:latin typeface="黑体" charset="0"/>
              <a:ea typeface="黑体" charset="0"/>
              <a:cs typeface="黑体" charset="0"/>
            </a:endParaRPr>
          </a:p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中分辨率遥感微小船舶检测是当前具有挑战性的细分任务</a:t>
            </a:r>
            <a:r>
              <a:rPr lang="en-US" altLang="zh-CN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。</a:t>
            </a:r>
            <a:b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</a:b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 charset="0"/>
                <a:ea typeface="黑体" charset="0"/>
                <a:cs typeface="黑体" charset="0"/>
              </a:rPr>
              <a:t>目标像素少、特征弱、背景复杂，易出现漏检和误检。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3357245"/>
            <a:ext cx="5891530" cy="275399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课题综述</a:t>
            </a:r>
            <a:endParaRPr lang="zh-CN" altLang="en-US" sz="3200"/>
          </a:p>
        </p:txBody>
      </p:sp>
      <p:sp>
        <p:nvSpPr>
          <p:cNvPr id="33" name="文本框 32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本课题任务是：输入遥感图像，输出船舶检测框和置信度，并支持可视化与结果导出。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当前相关研究主要包括以下方向：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Two-stage 检测器（如 Faster R-CNN）：精度较高，速度相对较慢。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One-stage 检测器（如 YOLO、RetinaNet）：速度快，部署友好。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Anchor-Free 检测器（如 FCOS）：减少锚框依赖，调参负担较小。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Transformer 检测器（如 DETR 系列）：全局建模能力强，训练成本较高。</a:t>
            </a:r>
            <a:endParaRPr lang="zh-CN" altLang="en-US" sz="20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115" y="1341120"/>
            <a:ext cx="7959725" cy="270954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现有研究仍存在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局限性：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数据划分和评测口径不统一，结论可比性有限。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论文方法到工程系统的落地复现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难度高。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在实际应用中需要同时兼顾检测精度、推理速度和可部署性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lvl="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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基于上述局限，本课题主要目标是在统一数据和指标条件下，完成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DRENet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mmdetection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YOLO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三类方法对比，并设计和实现可演示、可复用的微小船舶检测系统原型。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课题综述</a:t>
            </a:r>
            <a:endParaRPr lang="zh-CN" altLang="en-US" sz="3200"/>
          </a:p>
        </p:txBody>
      </p:sp>
      <p:pic>
        <p:nvPicPr>
          <p:cNvPr id="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055" y="3717290"/>
            <a:ext cx="6231255" cy="240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微小目标特征弱：目标像素占比低，深层特征易丢失。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检测性能平衡难</a:t>
            </a:r>
            <a:endParaRPr lang="en-US" altLang="zh-CN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目标尺度变化大，统一参数下难兼顾不同尺寸目标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正负样本不均衡，训练中精确率与召回率难同时优化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阈值与后处理设置会显著影响最终结果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跨模型统一对比与系统实现难</a:t>
            </a:r>
            <a:endParaRPr lang="en-US" altLang="zh-CN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DRENet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mmdetection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YOLO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接口体系不一致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数据格式、推理流程、后处理策略存在差异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需要统一接口与标准输出，才能保证公平对比和可复用部署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课题难点</a:t>
            </a:r>
            <a:endParaRPr lang="zh-CN" altLang="en-US" sz="3200"/>
          </a:p>
        </p:txBody>
      </p:sp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整体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流程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课题方案和需要条件</a:t>
            </a:r>
            <a:endParaRPr lang="zh-CN" altLang="en-US" sz="3200"/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45" y="2564765"/>
            <a:ext cx="8120380" cy="1525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数据准备与标准化模块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基于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LEVIR-Ship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完成数据核验与异常样本检查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统一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train/val/test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划分与评测口径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必要时转换为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COCO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中间格式，提升跨框架兼容性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记录数据版本、脚本、随机种子，保证可追溯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课题方案和需要条件</a:t>
            </a:r>
            <a:endParaRPr lang="zh-CN" altLang="en-US" sz="3200"/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模型复现与对比实验模块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lvl="1" indent="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课题方案和需要条件</a:t>
            </a:r>
            <a:endParaRPr lang="zh-CN" altLang="en-US" sz="3200"/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" y="2186940"/>
            <a:ext cx="7400290" cy="3131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消融实验与误差分析模块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消融方向：输入分辨率、多尺度训练、数据增强、阈值设置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误差分析：按场景（平静海面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/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薄云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/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厚云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/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强浪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/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碎云）分类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输出形式：表格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+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文字结论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+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可视化样例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课题方案和需要条件</a:t>
            </a:r>
            <a:endParaRPr lang="zh-CN" altLang="en-US" sz="3200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系统设计与实现模块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课题方案和需要条件</a:t>
            </a:r>
            <a:endParaRPr lang="zh-CN" altLang="en-US" sz="3200"/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835" y="1962150"/>
            <a:ext cx="3698240" cy="38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需要条件：</a:t>
            </a:r>
            <a:endParaRPr lang="en-US" altLang="zh-CN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数据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条件：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LEVIR-Ship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数据集及说明文档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设备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条件：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CPU AMD Rycen7、GPU NVIDIA RTX 3060</a:t>
            </a:r>
            <a:endParaRPr lang="en-US" altLang="zh-CN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工具：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PyTorch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mmdetection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ultralytics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Numpy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OpenCV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Anaconda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Git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、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PyCharm</a:t>
            </a:r>
            <a:endParaRPr lang="en-US" altLang="zh-CN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管理：统一实验记录模板、固定随机种子与版本信息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0" indent="0">
              <a:buNone/>
            </a:pP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课题方案和需要条件</a:t>
            </a:r>
            <a:endParaRPr lang="zh-CN" altLang="en-US" sz="3200"/>
          </a:p>
        </p:txBody>
      </p:sp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 lnSpcReduction="10000"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进度安排：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2026.02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：完成开题报告、文献框架、数据和环境准备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2026.03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：完成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DRENet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复现及第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模型预实验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2026.04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：完成三模型主对比实验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2026.05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：完成消融实验、系统联调、论文主体写作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2026.06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：完成论文定稿、答辩材料和归档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900" lvl="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预期成果：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文献成果：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20-30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篇文献整理与研究现状章节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实验成果：三模型对比表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+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至少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1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组消融</a:t>
            </a:r>
            <a:r>
              <a:rPr lang="en-US" altLang="zh-CN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+ </a:t>
            </a: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难例分析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系统成果：可运行的多模型推理原型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2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论文成果：形成配置、命令、日志、指标、图表完整证据链</a:t>
            </a:r>
            <a:endParaRPr lang="zh-CN" altLang="en-US" sz="22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计划进度与预期成果</a:t>
            </a:r>
            <a:endParaRPr lang="zh-CN" altLang="en-US" sz="3200"/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0000"/>
          </a:bodyPr>
          <a:p>
            <a:pPr marL="469900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Char char="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3635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本设计主要依赖以下文献</a:t>
            </a:r>
            <a:endParaRPr lang="zh-CN" altLang="en-US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DRENet </a:t>
            </a:r>
            <a:r>
              <a:rPr lang="zh-CN" altLang="en-US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原始论文（重点）</a:t>
            </a: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：</a:t>
            </a:r>
            <a:endParaRPr lang="en-US" altLang="zh-CN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lvl="1" indent="4572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Chen J, Chen K, Chen H, et al.</a:t>
            </a:r>
            <a:r>
              <a:rPr lang="" altLang="en-US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 </a:t>
            </a: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A degraded reconstruction enhancement-based method for tiny ship detection in remote sensing images with a new large-scale dataset[J]. IEEE Transactions on Geoscience and Remote Sensing, 2022. </a:t>
            </a:r>
            <a:endParaRPr lang="en-US" altLang="zh-CN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27100" lvl="1" indent="-4699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小目标检测综述与</a:t>
            </a: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DETR </a:t>
            </a:r>
            <a:r>
              <a:rPr lang="zh-CN" altLang="en-US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系列代表文献（补充）</a:t>
            </a:r>
            <a:endParaRPr lang="zh-CN" altLang="en-US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lvl="1" indent="4572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Carion N, Massa F, Synnaeve G, et al.</a:t>
            </a:r>
            <a:r>
              <a:rPr lang="" altLang="en-US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 </a:t>
            </a: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End-to-end object detection with transformers[C]. ECCV, 2020.</a:t>
            </a:r>
            <a:endParaRPr lang="en-US" altLang="zh-CN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lvl="1" indent="4572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Zhu X, Su W, Lu L, et al.</a:t>
            </a:r>
            <a:r>
              <a:rPr lang="" altLang="en-US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 </a:t>
            </a: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Deformable DETR: Deformable transformers for end-to-end object detection[C]. ICLR, 2021. </a:t>
            </a:r>
            <a:r>
              <a:rPr lang="en-US" altLang="zh-CN" sz="3635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 </a:t>
            </a:r>
            <a:endParaRPr lang="en-US" altLang="zh-CN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lvl="0" indent="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sz="3635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>
              <a:defRPr sz="2400"/>
            </a:pPr>
            <a:r>
              <a:rPr lang="zh-CN" altLang="en-US" sz="3200"/>
              <a:t>翻译工作</a:t>
            </a:r>
            <a:endParaRPr lang="zh-CN" altLang="en-US" sz="3200"/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0825" y="2790825"/>
            <a:ext cx="8642350" cy="1276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5pPr>
            <a:lvl6pPr marL="22860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6pPr>
            <a:lvl7pPr marL="27432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7pPr>
            <a:lvl8pPr marL="32004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8pPr>
            <a:lvl9pPr marL="36576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503050405090304" charset="0"/>
                <a:ea typeface="华文新魏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请各位评委老师指导！</a:t>
            </a:r>
            <a:endParaRPr kumimoji="0" lang="zh-CN" altLang="en-US" sz="72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WPS 文字</Application>
  <PresentationFormat/>
  <Paragraphs>115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Times New Roman</vt:lpstr>
      <vt:lpstr>Verdana</vt:lpstr>
      <vt:lpstr>宋体</vt:lpstr>
      <vt:lpstr>汉仪书宋二KW</vt:lpstr>
      <vt:lpstr>黑体</vt:lpstr>
      <vt:lpstr>华文新魏</vt:lpstr>
      <vt:lpstr>苹方-简</vt:lpstr>
      <vt:lpstr>汉仪中黑KW</vt:lpstr>
      <vt:lpstr>Wingdings</vt:lpstr>
      <vt:lpstr>Times New Roman</vt:lpstr>
      <vt:lpstr>华文新魏</vt:lpstr>
      <vt:lpstr>宋体</vt:lpstr>
      <vt:lpstr>微软雅黑</vt:lpstr>
      <vt:lpstr>汉仪旗黑</vt:lpstr>
      <vt:lpstr>DejaVu Sans</vt:lpstr>
      <vt:lpstr>Calibri</vt:lpstr>
      <vt:lpstr>Helvetica Neue</vt:lpstr>
      <vt:lpstr>Arial Unicode MS</vt:lpstr>
      <vt:lpstr>Verdana</vt:lpstr>
      <vt:lpstr>华文新魏</vt:lpstr>
      <vt:lpstr>黑体</vt:lpstr>
      <vt:lpstr>Apple Color Emoji</vt:lpstr>
      <vt:lpstr>Office</vt:lpstr>
      <vt:lpstr>1_Office</vt:lpstr>
      <vt:lpstr>题目：遥感场景下的微小船舶检测系统设计与实现 </vt:lpstr>
      <vt:lpstr>汇报提纲</vt:lpstr>
      <vt:lpstr>课题意义</vt:lpstr>
      <vt:lpstr>课题综述</vt:lpstr>
      <vt:lpstr>课题综述</vt:lpstr>
      <vt:lpstr>课题难点</vt:lpstr>
      <vt:lpstr>课题方案和需要条件</vt:lpstr>
      <vt:lpstr>课题方案和需要条件</vt:lpstr>
      <vt:lpstr>课题方案和需要条件</vt:lpstr>
      <vt:lpstr>课题方案和需要条件</vt:lpstr>
      <vt:lpstr>课题方案和需要条件</vt:lpstr>
      <vt:lpstr>课题方案和需要条件</vt:lpstr>
      <vt:lpstr>计划进度与预期成果</vt:lpstr>
      <vt:lpstr>翻译工作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王伟</dc:creator>
  <cp:lastModifiedBy>邝黄硕</cp:lastModifiedBy>
  <cp:revision>199</cp:revision>
  <dcterms:created xsi:type="dcterms:W3CDTF">2026-03-02T14:09:38Z</dcterms:created>
  <dcterms:modified xsi:type="dcterms:W3CDTF">2026-03-02T14:09:38Z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3C09E96E9CC3F055CDAC9F69A6E3AD75_42</vt:lpwstr>
  </property>
  <property fmtid="{D5CDD505-2E9C-101B-9397-08002B2CF9AE}" pid="3" name="KSOProductBuildVer">
    <vt:lpwstr>2052-12.1.25201.25201</vt:lpwstr>
  </property>
</Properties>
</file>